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011afaa55d493c" /><Relationship Type="http://schemas.openxmlformats.org/officeDocument/2006/relationships/extended-properties" Target="/docProps/app.xml" Id="R4e466f0467764fe3" /><Relationship Type="http://schemas.openxmlformats.org/officeDocument/2006/relationships/officeDocument" Target="/ppt/presentation.xml" Id="R8c684544fb6240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13aa43e29744f4"/>
  </p:sldMasterIdLst>
  <p:notesMasterIdLst>
    <p:notesMasterId xmlns:r="http://schemas.openxmlformats.org/officeDocument/2006/relationships" r:id="Rdc8a211d037a48ed"/>
  </p:notesMasterIdLst>
  <p:sldIdLst>
    <p:sldId xmlns:r="http://schemas.openxmlformats.org/officeDocument/2006/relationships" id="256" r:id="R8d430a13e83148fe"/>
    <p:sldId xmlns:r="http://schemas.openxmlformats.org/officeDocument/2006/relationships" id="257" r:id="R5bab8fa1b17642d4"/>
    <p:sldId xmlns:r="http://schemas.openxmlformats.org/officeDocument/2006/relationships" id="258" r:id="R6b14f57fe3b2411c"/>
    <p:sldId xmlns:r="http://schemas.openxmlformats.org/officeDocument/2006/relationships" id="259" r:id="Rd41c74b22c2440a8"/>
    <p:sldId xmlns:r="http://schemas.openxmlformats.org/officeDocument/2006/relationships" id="260" r:id="R17fe3d8ae10b4bfc"/>
    <p:sldId xmlns:r="http://schemas.openxmlformats.org/officeDocument/2006/relationships" id="261" r:id="Rbfc471b1675e4a8e"/>
    <p:sldId xmlns:r="http://schemas.openxmlformats.org/officeDocument/2006/relationships" id="262" r:id="R4f7521b13e3b49f3"/>
    <p:sldId xmlns:r="http://schemas.openxmlformats.org/officeDocument/2006/relationships" id="263" r:id="R0cab752680104cee"/>
    <p:sldId xmlns:r="http://schemas.openxmlformats.org/officeDocument/2006/relationships" id="264" r:id="R78554e88790c4b6a"/>
    <p:sldId xmlns:r="http://schemas.openxmlformats.org/officeDocument/2006/relationships" id="265" r:id="R542c149c35f54cba"/>
    <p:sldId xmlns:r="http://schemas.openxmlformats.org/officeDocument/2006/relationships" id="266" r:id="R36e13ca3fbbf4dfe"/>
    <p:sldId xmlns:r="http://schemas.openxmlformats.org/officeDocument/2006/relationships" id="267" r:id="R71659bf950f240b4"/>
    <p:sldId xmlns:r="http://schemas.openxmlformats.org/officeDocument/2006/relationships" id="268" r:id="R936960f8139242ac"/>
    <p:sldId xmlns:r="http://schemas.openxmlformats.org/officeDocument/2006/relationships" id="269" r:id="Rf9793e57597f4e16"/>
    <p:sldId xmlns:r="http://schemas.openxmlformats.org/officeDocument/2006/relationships" id="270" r:id="Rdb9e689b94064f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fa793be33a4b7c" /><Relationship Type="http://schemas.openxmlformats.org/officeDocument/2006/relationships/slideMaster" Target="/ppt/slideMasters/slideMaster1.xml" Id="R3513aa43e29744f4" /><Relationship Type="http://schemas.openxmlformats.org/officeDocument/2006/relationships/notesMaster" Target="/ppt/notesMasters/notesMaster1.xml" Id="Rdc8a211d037a48ed" /><Relationship Type="http://schemas.openxmlformats.org/officeDocument/2006/relationships/presProps" Target="/ppt/presProps.xml" Id="R0dc5bce6d94846b8" /><Relationship Type="http://schemas.openxmlformats.org/officeDocument/2006/relationships/tableStyles" Target="/ppt/tableStyles.xml" Id="Rf83fd0f3d3e44306" /><Relationship Type="http://schemas.openxmlformats.org/officeDocument/2006/relationships/slide" Target="/ppt/slides/slide1.xml" Id="R8d430a13e83148fe" /><Relationship Type="http://schemas.openxmlformats.org/officeDocument/2006/relationships/slide" Target="/ppt/slides/slide2.xml" Id="R5bab8fa1b17642d4" /><Relationship Type="http://schemas.openxmlformats.org/officeDocument/2006/relationships/slide" Target="/ppt/slides/slide3.xml" Id="R6b14f57fe3b2411c" /><Relationship Type="http://schemas.openxmlformats.org/officeDocument/2006/relationships/slide" Target="/ppt/slides/slide4.xml" Id="Rd41c74b22c2440a8" /><Relationship Type="http://schemas.openxmlformats.org/officeDocument/2006/relationships/slide" Target="/ppt/slides/slide5.xml" Id="R17fe3d8ae10b4bfc" /><Relationship Type="http://schemas.openxmlformats.org/officeDocument/2006/relationships/slide" Target="/ppt/slides/slide6.xml" Id="Rbfc471b1675e4a8e" /><Relationship Type="http://schemas.openxmlformats.org/officeDocument/2006/relationships/slide" Target="/ppt/slides/slide7.xml" Id="R4f7521b13e3b49f3" /><Relationship Type="http://schemas.openxmlformats.org/officeDocument/2006/relationships/slide" Target="/ppt/slides/slide8.xml" Id="R0cab752680104cee" /><Relationship Type="http://schemas.openxmlformats.org/officeDocument/2006/relationships/slide" Target="/ppt/slides/slide9.xml" Id="R78554e88790c4b6a" /><Relationship Type="http://schemas.openxmlformats.org/officeDocument/2006/relationships/slide" Target="/ppt/slides/slide10.xml" Id="R542c149c35f54cba" /><Relationship Type="http://schemas.openxmlformats.org/officeDocument/2006/relationships/slide" Target="/ppt/slides/slide11.xml" Id="R36e13ca3fbbf4dfe" /><Relationship Type="http://schemas.openxmlformats.org/officeDocument/2006/relationships/slide" Target="/ppt/slides/slide12.xml" Id="R71659bf950f240b4" /><Relationship Type="http://schemas.openxmlformats.org/officeDocument/2006/relationships/slide" Target="/ppt/slides/slide13.xml" Id="R936960f8139242ac" /><Relationship Type="http://schemas.openxmlformats.org/officeDocument/2006/relationships/slide" Target="/ppt/slides/slide14.xml" Id="Rf9793e57597f4e16" /><Relationship Type="http://schemas.openxmlformats.org/officeDocument/2006/relationships/slide" Target="/ppt/slides/slide15.xml" Id="Rdb9e689b94064f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cf14cc87434e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55325671b545fe" /><Relationship Type="http://schemas.openxmlformats.org/officeDocument/2006/relationships/notesMaster" Target="/ppt/notesMasters/notesMaster1.xml" Id="Rb4f0c4ca9a384f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8af2126f0740dc" /><Relationship Type="http://schemas.openxmlformats.org/officeDocument/2006/relationships/notesMaster" Target="/ppt/notesMasters/notesMaster1.xml" Id="R7f9b10833a9a4c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7019895b6f4782" /><Relationship Type="http://schemas.openxmlformats.org/officeDocument/2006/relationships/notesMaster" Target="/ppt/notesMasters/notesMaster1.xml" Id="R1e6c1ef4223b40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a822fb9853499e" /><Relationship Type="http://schemas.openxmlformats.org/officeDocument/2006/relationships/notesMaster" Target="/ppt/notesMasters/notesMaster1.xml" Id="R3e23902bb87046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7210b32ccd46f7" /><Relationship Type="http://schemas.openxmlformats.org/officeDocument/2006/relationships/notesMaster" Target="/ppt/notesMasters/notesMaster1.xml" Id="R296d08399f0344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034277e7ef4509" /><Relationship Type="http://schemas.openxmlformats.org/officeDocument/2006/relationships/notesMaster" Target="/ppt/notesMasters/notesMaster1.xml" Id="R9ecaf78e73b840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3e756935f242ba" /><Relationship Type="http://schemas.openxmlformats.org/officeDocument/2006/relationships/notesMaster" Target="/ppt/notesMasters/notesMaster1.xml" Id="R350c9ab606054a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bc8f24c953488b" /><Relationship Type="http://schemas.openxmlformats.org/officeDocument/2006/relationships/notesMaster" Target="/ppt/notesMasters/notesMaster1.xml" Id="Rad6759b81e9545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e08ed32d14483b" /><Relationship Type="http://schemas.openxmlformats.org/officeDocument/2006/relationships/notesMaster" Target="/ppt/notesMasters/notesMaster1.xml" Id="Rba43c1d67d3f4d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e6402244114f09" /><Relationship Type="http://schemas.openxmlformats.org/officeDocument/2006/relationships/notesMaster" Target="/ppt/notesMasters/notesMaster1.xml" Id="R68ac9ec1662c45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5d084d9cd54e37" /><Relationship Type="http://schemas.openxmlformats.org/officeDocument/2006/relationships/notesMaster" Target="/ppt/notesMasters/notesMaster1.xml" Id="R2ab96297462a48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d8ad62aa114190" /><Relationship Type="http://schemas.openxmlformats.org/officeDocument/2006/relationships/notesMaster" Target="/ppt/notesMasters/notesMaster1.xml" Id="Rd295922511c847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cf9d1bc8bc4504" /><Relationship Type="http://schemas.openxmlformats.org/officeDocument/2006/relationships/notesMaster" Target="/ppt/notesMasters/notesMaster1.xml" Id="R188df209d27140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8ae8fe324f4e3a" /><Relationship Type="http://schemas.openxmlformats.org/officeDocument/2006/relationships/notesMaster" Target="/ppt/notesMasters/notesMaster1.xml" Id="R8ce7174c78994fc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73320b4dd6043f7" /><Relationship Type="http://schemas.openxmlformats.org/officeDocument/2006/relationships/notesMaster" Target="/ppt/notesMasters/notesMaster1.xml" Id="R77736672b4df4e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purpose of the system and the evidence boundary.</a:t>
            </a:r>
          </a:p>
          <a:p xmlns:a="http://schemas.openxmlformats.org/drawingml/2006/main">
            <a:r>
              <a:t>Source: PitayaGrade_Capstone_Paper.md and research/SCOPE_ALIGNMENT.md.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defense precise: distinguish implemented software from unverified research outcomes.</a:t>
            </a:r>
          </a:p>
          <a:p xmlns:a="http://schemas.openxmlformats.org/drawingml/2006/main">
            <a:r>
              <a:t>Source: manuscript Abstract and Chapter 5 evidence-status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manuscript Sections 1.3 and 4.2.</a:t>
            </a:r>
          </a:p>
          <a:p xmlns:a="http://schemas.openxmlformats.org/drawingml/2006/main">
            <a:r>
              <a:t>Do not present the intended 90% target as a measured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assets/diagrams/pitayagrade-use-case-view.png.</a:t>
            </a:r>
          </a:p>
          <a:p xmlns:a="http://schemas.openxmlformats.org/drawingml/2006/main">
            <a:r>
              <a:t>Model comparison stays unavailable until comparable evaluated model files exist.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js/model-inference.js, js/storage.js and research/SCOPE_ALIGNMENT.md.</a:t>
            </a:r>
          </a:p>
          <a:p xmlns:a="http://schemas.openxmlformats.org/drawingml/2006/main">
            <a:r>
              <a:t>This slide describes the active Capacitor application, not the earlier Flutter or Cordova prototypes.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js/scanner.js, js/live-scanner.js and js/model-inference.js.</a:t>
            </a:r>
          </a:p>
          <a:p xmlns:a="http://schemas.openxmlformats.org/drawingml/2006/main">
            <a:r>
              <a:t>The active default object threshold is 50%.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js/model-registry.js.</a:t>
            </a:r>
          </a:p>
          <a:p xmlns:a="http://schemas.openxmlformats.org/drawingml/2006/main">
            <a:r>
              <a:t>Do not describe the disabled entries as implemented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application modules in js/, README.md and research/SCOPE_ALIGNMENT.md.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research/dataset-audit.json and research/public-review-manifest.json.</a:t>
            </a:r>
          </a:p>
          <a:p xmlns:a="http://schemas.openxmlformats.org/drawingml/2006/main">
            <a:r>
              <a:t>Adjacent video frames can still cause leakage even when hashes differ.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latest local test runs, .github/workflows/verify.yml and research/SCOPE_ALIGNMENT.md.</a:t>
            </a:r>
          </a:p>
          <a:p xmlns:a="http://schemas.openxmlformats.org/drawingml/2006/main">
            <a:r>
              <a:t>Current debug APK SHA-256 begins 06a62fe9.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scripts/audit_runtime_gate.py and research/SCOPE_ALIGNMENT.md.</a:t>
            </a:r>
          </a:p>
          <a:p xmlns:a="http://schemas.openxmlformats.org/drawingml/2006/main">
            <a:r>
              <a:t>The 240 images are known-fruit development samples, so do not report 95%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research/WEEK4_EVALUATION_PLAN.md and research/week4 templates.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research/COMPLETION_SCORECARD.md.</a:t>
            </a:r>
          </a:p>
          <a:p xmlns:a="http://schemas.openxmlformats.org/drawingml/2006/main">
            <a:r>
              <a:t>This is a project-management estimate, not a model-performance metric.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scripts/release-readiness.js and research/WEEK4_EVALUATION_PLAN.md.</a:t>
            </a:r>
          </a:p>
          <a:p xmlns:a="http://schemas.openxmlformats.org/drawingml/2006/main">
            <a:r>
              <a:t>Ask the panel to judge the prototype and protocol separately from the pending empirical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a local APK and screenshots available if network or camera access fails.</a:t>
            </a:r>
          </a:p>
          <a:p xmlns:a="http://schemas.openxmlformats.org/drawingml/2006/main">
            <a:r>
              <a:t>Close by restating the evidence boundary and the exact work needed for final completion.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e6c6362e6c45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85f9411f0e4e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eafd813c3746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c91d4d312b47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839655d3642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fe7c81df4049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43C431-D38B-4A1F-9688-CE92BB74CD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BD634F-54AB-45AB-AC18-7C470B8F61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89D1CB5-0332-4700-90E3-BE336BC7BD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633906-B17E-49F5-A07F-210FD4D95B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78F5B21-1041-4F2B-B35B-F0CEEEB8B6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BB35F2-4202-466E-A10D-E19A9B4CFA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B28EA2-727E-4160-B1D8-B9684C72FB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49D0F36-296D-4B4C-9DEB-69BD5D4E15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337CC3-47A7-4E07-9354-DA8C209A54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2D1CEE-0414-4FDB-9367-FC545FD914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2ecd2cb92b48af" /><Relationship Type="http://schemas.openxmlformats.org/officeDocument/2006/relationships/slideLayout" Target="/ppt/slideLayouts/slideLayout1.xml" Id="Rf48ad83d5b0f4964" /><Relationship Type="http://schemas.openxmlformats.org/officeDocument/2006/relationships/slideLayout" Target="/ppt/slideLayouts/slideLayout2.xml" Id="R09ca3535a5a547e9" /><Relationship Type="http://schemas.openxmlformats.org/officeDocument/2006/relationships/slideLayout" Target="/ppt/slideLayouts/slideLayout3.xml" Id="Re60a521b71114ae4" /><Relationship Type="http://schemas.openxmlformats.org/officeDocument/2006/relationships/slideLayout" Target="/ppt/slideLayouts/slideLayout4.xml" Id="R160b6d6ff91d410a" /><Relationship Type="http://schemas.openxmlformats.org/officeDocument/2006/relationships/slideLayout" Target="/ppt/slideLayouts/slideLayout5.xml" Id="R27fbb26ffb2c415e" /><Relationship Type="http://schemas.openxmlformats.org/officeDocument/2006/relationships/slideLayout" Target="/ppt/slideLayouts/slideLayout6.xml" Id="R3916cfd7018747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8ad83d5b0f4964"/>
    <p:sldLayoutId xmlns:r="http://schemas.openxmlformats.org/officeDocument/2006/relationships" id="2147483650" r:id="R09ca3535a5a547e9"/>
    <p:sldLayoutId xmlns:r="http://schemas.openxmlformats.org/officeDocument/2006/relationships" id="2147483651" r:id="Re60a521b71114ae4"/>
    <p:sldLayoutId xmlns:r="http://schemas.openxmlformats.org/officeDocument/2006/relationships" id="2147483652" r:id="R160b6d6ff91d410a"/>
    <p:sldLayoutId xmlns:r="http://schemas.openxmlformats.org/officeDocument/2006/relationships" id="2147483653" r:id="R27fbb26ffb2c415e"/>
    <p:sldLayoutId xmlns:r="http://schemas.openxmlformats.org/officeDocument/2006/relationships" id="2147483654" r:id="R3916cfd7018747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65413ee88c492a" /><Relationship Type="http://schemas.openxmlformats.org/officeDocument/2006/relationships/image" Target="/ppt/media/image.jpeg" Id="Rc3ed98129bba4a4f" /><Relationship Type="http://schemas.openxmlformats.org/officeDocument/2006/relationships/notesSlide" Target="/ppt/notesSlides/notesSlide1.xml" Id="R8c0f2bf7d50d4a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d5292a2b824ee7" /><Relationship Type="http://schemas.openxmlformats.org/officeDocument/2006/relationships/notesSlide" Target="/ppt/notesSlides/notesSlide2.xml" Id="Ra43527012e8e41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666082dd504dd6" /><Relationship Type="http://schemas.openxmlformats.org/officeDocument/2006/relationships/notesSlide" Target="/ppt/notesSlides/notesSlide3.xml" Id="Ra50e7a3003d44c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edeb437a574a45" /><Relationship Type="http://schemas.openxmlformats.org/officeDocument/2006/relationships/image" Target="/ppt/media/image.png" Id="Rd5fe3fec89134e50" /><Relationship Type="http://schemas.openxmlformats.org/officeDocument/2006/relationships/notesSlide" Target="/ppt/notesSlides/notesSlide4.xml" Id="R889042bac2c94a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fdb6ef88b24450" /><Relationship Type="http://schemas.openxmlformats.org/officeDocument/2006/relationships/notesSlide" Target="/ppt/notesSlides/notesSlide5.xml" Id="R2fb199dd41f847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c908d5369342c8" /><Relationship Type="http://schemas.openxmlformats.org/officeDocument/2006/relationships/notesSlide" Target="/ppt/notesSlides/notesSlide6.xml" Id="R68517a99a3f64b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62c8c3e3284369" /><Relationship Type="http://schemas.openxmlformats.org/officeDocument/2006/relationships/notesSlide" Target="/ppt/notesSlides/notesSlide7.xml" Id="Rcb2794d3cef449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8d5ad3dec84243" /><Relationship Type="http://schemas.openxmlformats.org/officeDocument/2006/relationships/notesSlide" Target="/ppt/notesSlides/notesSlide8.xml" Id="R31c1cc0935d44a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f3bcbf78e74626" /><Relationship Type="http://schemas.openxmlformats.org/officeDocument/2006/relationships/notesSlide" Target="/ppt/notesSlides/notesSlide9.xml" Id="Re6a89a6a0fd648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65863269ce4325" /><Relationship Type="http://schemas.openxmlformats.org/officeDocument/2006/relationships/notesSlide" Target="/ppt/notesSlides/notesSlide10.xml" Id="R4ea4899078ce4d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6dae6c8b714f25" /><Relationship Type="http://schemas.openxmlformats.org/officeDocument/2006/relationships/notesSlide" Target="/ppt/notesSlides/notesSlide11.xml" Id="R287dcce577cb42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5b443ca9984202" /><Relationship Type="http://schemas.openxmlformats.org/officeDocument/2006/relationships/notesSlide" Target="/ppt/notesSlides/notesSlide12.xml" Id="R9a212633033e41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06a676651e427a" /><Relationship Type="http://schemas.openxmlformats.org/officeDocument/2006/relationships/notesSlide" Target="/ppt/notesSlides/notesSlide13.xml" Id="R31ef6a1276da49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68046cac3042ec" /><Relationship Type="http://schemas.openxmlformats.org/officeDocument/2006/relationships/notesSlide" Target="/ppt/notesSlides/notesSlide14.xml" Id="R4e7565d0444a4b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1b95d3e3d240e3" /><Relationship Type="http://schemas.openxmlformats.org/officeDocument/2006/relationships/notesSlide" Target="/ppt/notesSlides/notesSlide15.xml" Id="Rcac68f2dc4b145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9A38D-3F7F-4DD8-BF2E-205AB527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204C"/>
          </a:solidFill>
          <a:ln xmlns:a="http://schemas.openxmlformats.org/drawingml/2006/main" w="9525">
            <a:solidFill>
              <a:srgbClr val="55204C"/>
            </a:solidFill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F2BAE-4B0E-493F-9051-702D416C66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d98129bba4a4f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2762250" cy="2762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1271F-8AA4-478C-B694-B68C8CD0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24000"/>
            <a:ext cx="638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6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PITAYAGRADE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A79ED-5127-45F4-BD2F-3DB8782C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57450"/>
            <a:ext cx="5905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0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204C"/>
                </a:solidFill>
                <a:latin typeface="Arial"/>
                <a:ea typeface="Arial"/>
                <a:cs typeface="Arial"/>
              </a:rPr>
              <a:t>Pre-Harvest Quality Grading and Disease Detection for Dragon Fruit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29777-892C-4CC8-B803-E669895E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719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0AD89-18E8-470B-BD25-4B4FC04E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76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D8A68"/>
                </a:solidFill>
                <a:latin typeface="Arial"/>
                <a:ea typeface="Arial"/>
                <a:cs typeface="Arial"/>
              </a:rPr>
              <a:t>Capstone Defense Deck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2E6BC-BDCD-447D-B480-CD2B7EC5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9105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Bachelor of Science in Information Technology</a:t>
            </a:r>
          </a:p>
          <a:p xmlns:a="http://schemas.openxmlformats.org/drawingml/2006/main">
            <a:pPr algn="l">
              <a:defRPr sz="142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Academic Year 2025–2026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D1455-2184-4CF8-9D1E-83B6C79F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150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B947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B9475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94750"/>
                </a:solidFill>
                <a:latin typeface="Arial"/>
                <a:ea typeface="Arial"/>
                <a:cs typeface="Arial"/>
              </a:rPr>
              <a:t>Current evidence status: quality models evaluated; physical-device/UAT evidence pending</a:t>
            </a:r>
          </a:p>
        </p:txBody>
      </p:sp>
    </p:spTree>
    <p:extLst>
      <p:ext uri="{BB962C8B-B14F-4D97-AF65-F5344CB8AC3E}">
        <p14:creationId xmlns:p14="http://schemas.microsoft.com/office/powerpoint/2010/main" val="20003742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24666-1199-4119-9FD0-C9DB8D31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Problem and research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5B713-5CD4-4C47-8257-131093C9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7AC98-0997-4ADA-BEF7-74A11648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A6F6D-31C6-4B89-BBD0-685D885D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76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Manual visual inspection varies with evaluator judgment, lighting and fatigue. PitayaGrade tests whether a local mobile workflow can support more consistent image-based assessment.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4472E-C1EE-439E-8876-B522836A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8F00A-FC75-4B57-AF92-247C2D79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643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Quality grades need consistent visual criteria and traceable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11F50-29D0-4991-9ACD-18EEDBBE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AA796-810A-4511-AD7D-C32A20B7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643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Visible disease cues require careful wording and expert confirmation.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F5C58-476C-4976-B276-EA5D4DDE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99187-6319-4FE9-84E8-6E7D99C9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643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Small farms benefit from offline capture, history and report export.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6518B-7E23-4D54-AC6B-1661276B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76375"/>
            <a:ext cx="352425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D99C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786F3-DAEE-4249-81D7-B2A19447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Evidence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81D64-116E-4287-93AD-01586E92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95550"/>
            <a:ext cx="2762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The current prototype demonstrates local ONNX execution and application workflows. It does not yet establish agricultural accuracy, field impact or superiority to manual grading.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207ED-6501-45B7-B046-F44C5BF1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2197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4750"/>
                </a:solidFill>
                <a:latin typeface="Arial"/>
                <a:ea typeface="Arial"/>
                <a:cs typeface="Arial"/>
              </a:rPr>
              <a:t>Accuracy and impact claims remain pending reviewed labels and formal testing.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1313D-7230-45F8-B424-5CF192D6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17715446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5FEEC5-CB80-4314-BB14-38BC43B8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Objectives and intended users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6E8AC-43AF-4048-8AD1-B192C183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B6D9D-C9B3-4AFF-80D0-D133B839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855CD-A0A4-4742-B03D-520EE65C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General 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FC1F1-4AB7-4738-986E-33D08D93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Develop a mobile decision-support application for image-based dragon fruit grading, visible symptom estimation and local record keeping.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A9710-2981-4A78-A2C0-079E01B8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5DF"/>
          </a:solidFill>
          <a:ln xmlns:a="http://schemas.openxmlformats.org/drawingml/2006/main" w="9525">
            <a:solidFill>
              <a:srgbClr val="E3D5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57C62-747F-455B-9E0D-B26A8C54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906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D8A68"/>
                </a:solidFill>
                <a:latin typeface="Arial"/>
                <a:ea typeface="Arial"/>
                <a:cs typeface="Arial"/>
              </a:rPr>
              <a:t>Core 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BDC57-3F8C-4D14-B601-984D0CE1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2190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7DCEB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2DE34-A4B3-401D-8628-58EA59EA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526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Farmer / 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9262A-EEC2-4A26-92AA-BE188D4A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52700"/>
            <a:ext cx="18478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Captures fruit, reviews the result and keeps scan records.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FE6BC-191F-4270-9594-9D06BA8C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190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4F3EC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CF055-E2DC-4789-B6D3-8F1CE493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526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Agricultural worker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37DE1-D7CE-4579-A54E-A29D3EEE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18478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Supports interpretation, review and field follow-up.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66828-9071-43DC-9BB5-D825D614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00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Implemented objectives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8C16F-C66C-4221-95D7-F88200B0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71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A6AB3-0BA8-421B-9AEF-6B6CFA01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Photo and live-camera capture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4AB528-6519-4A96-B0FA-EAE49489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91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ABAF9-7F75-4FD1-B295-CE87D0F0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Selectable model interface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188E5-4C81-4486-A663-5F73BB6A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10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CF1942-227C-4A59-AFBF-DC5E09C9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2445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History, analytics and CSV reports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C8BBEB-0D39-45C4-A5E8-8B1542D4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29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4FC5F8-E328-470B-8BF3-CD8AC4BB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4355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Local notifications and reviewer feedback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5F92FE-0EE0-4795-AA4D-5029F5C8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7625199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B75DA-BF88-4C36-A359-A7377649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User interaction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FB2DA-9A8E-4293-8EA7-8C52142B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FF268-0668-4CD4-81ED-DCB68EE7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21A02-6643-4C4B-BF54-23045000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763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The mobile workflow keeps capture, results and records in one application.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6D94F-870A-4482-B826-6DA5C64D17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e3fec89134e50"/>
          <a:stretch xmlns:a="http://schemas.openxmlformats.org/drawingml/2006/main"/>
        </p:blipFill>
        <p:spPr>
          <a:xfrm xmlns:a="http://schemas.openxmlformats.org/drawingml/2006/main">
            <a:off x="4114800" y="1238250"/>
            <a:ext cx="3962400" cy="4953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47E34-FD0A-4C8C-A685-FF2E8892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Primary actor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4CE70-F559-484B-A257-761AB2C9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Farmer or 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767C5-6917-42ED-B7CA-106D39DB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D8A68"/>
                </a:solidFill>
                <a:latin typeface="Arial"/>
                <a:ea typeface="Arial"/>
                <a:cs typeface="Arial"/>
              </a:rPr>
              <a:t>Supporting actor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A90BD-0D78-4B94-8484-368085A4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717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Agricultural worker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AD226-0BA1-466B-98BF-CC3F1788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6746592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8D5152-96DB-4C05-B6C9-3D2E7C51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Implemented 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EA596-0D44-43DB-A7ED-52C68729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A095F-B7EA-4571-9B56-904A8A84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EB004-AFBB-4FF2-B5F7-C90E870E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763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All active scan processing remains on the device.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24E1E-9B40-4E8D-819D-3D20C9E9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000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DCEB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F4CB7-F81B-41D3-80A1-4581FAB4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6B1D0-06C8-4671-BE30-F41C56C5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657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Camera frame or gallery image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C0594-62F0-418D-8905-E7970BBB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14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20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5AD25-315C-4C64-8FC7-A35BF566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669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Capacitor application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43D96-20E0-44BF-A1BF-6DD70B8B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66950"/>
            <a:ext cx="2038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HTML, CSS and JavaScript UI with shared photo/live scan logic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3E146-6523-489B-B6AB-68A688B9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4F3EC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5CC5B-0E4C-4540-8D45-5D9BE7F4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669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Local inference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C7415-5D64-4329-B638-B9EFD37A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66950"/>
            <a:ext cx="2038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ONNX Runtime Web + WASM</a:t>
            </a:r>
          </a:p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Selectable ONNX quality models + dragon-fruit presence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13A43-E5C5-4973-AD88-02BA13CB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14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D99C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AE20A9-A11E-413D-8DD1-ACC378FE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669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Local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74E9C-37EE-4B6E-8F1E-2E0F4099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66950"/>
            <a:ext cx="2038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Settings, scan history, review feedback and CSV reports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1DA19-AC06-4F10-91DD-4C82F317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479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204C"/>
          </a:solidFill>
          <a:ln xmlns:a="http://schemas.openxmlformats.org/drawingml/2006/main" w="9525">
            <a:solidFill>
              <a:srgbClr val="55204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7E432-968B-4A8D-B3FA-692C8142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B7F80-940A-458E-BC48-6CDABB5A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479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204C"/>
          </a:solidFill>
          <a:ln xmlns:a="http://schemas.openxmlformats.org/drawingml/2006/main" w="9525">
            <a:solidFill>
              <a:srgbClr val="55204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F9F062-1B21-49AD-8044-BAD38B52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8125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296F01-FAB6-48EC-8CAF-5B6286C7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479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204C"/>
          </a:solidFill>
          <a:ln xmlns:a="http://schemas.openxmlformats.org/drawingml/2006/main" w="9525">
            <a:solidFill>
              <a:srgbClr val="55204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1F394C-6BF9-4E0D-BC58-13711D4A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128217-F65D-4919-8B8C-0B97FC5D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76750"/>
            <a:ext cx="819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725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94750"/>
                </a:solidFill>
                <a:latin typeface="Arial"/>
                <a:ea typeface="Arial"/>
                <a:cs typeface="Arial"/>
              </a:rPr>
              <a:t>Current disease output uses clearly labeled HSV image heuristics until an evaluated segmentation model is available.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C7F940-F3C5-4AAE-8865-D6FA7CF6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911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No Firebase, cloud database or cloud AI service is required by the active application.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FEE9C9-FC2D-4883-8386-FDC2BE24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20814842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D2CACF-B6D5-4F02-8F33-39C13A78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Runtime scan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C086F-E36F-4583-8AE7-64D0D82E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821A6-11A3-408D-8ACA-411DFE4B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2DD0D-FBFA-4BD2-A0E5-CE6A926F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809750" cy="223837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DCEB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AAAFE-3519-4069-8B93-A4A3BB40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1  Select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E22B8-B5BF-4698-8FB2-1668A36D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05075"/>
            <a:ext cx="14668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Choose an available grade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457F6-BC9D-4E76-BA9C-2A0C4B60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52625"/>
            <a:ext cx="1809750" cy="223837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4F3EC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2EC0B-7E20-49D6-AE11-ECB07282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050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2  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F953A-B848-4FF8-B6D2-2CA2AD26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05075"/>
            <a:ext cx="14668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Take a photo, upload or use live 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49EB6-E6D4-4395-A5B4-77A991E4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1809750" cy="223837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DCEB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70C6D-7AB5-46AC-9660-0E0CE0A6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050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3  Infer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24341-34B7-4054-921E-3068D35F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14668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Preprocess and run local ONNX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D310A-560F-45B3-8348-BB5833A1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1809750" cy="223837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4F3EC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4E21F-A95F-4A0D-9E70-5A4126A0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050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4  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F8241-5426-46A2-9F96-B992626D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05075"/>
            <a:ext cx="14668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Apply confidence and fruit-signature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B836F-1978-4F72-9DE4-FF82EB3D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1809750" cy="223837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DCEB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C7982-B4FA-494B-9ED9-CF9EEB8D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050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5  Save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B712C-9ADD-485B-B073-0040A55C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05075"/>
            <a:ext cx="14668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Show result and keep a local record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42D8C4-F109-457F-AEAA-E7F49DC5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432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7E2E53-42F2-499A-80BC-C4635D5C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432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B3E330-05D0-431B-BD8B-77D80016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432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CCA133-5AED-4DE4-85E8-4FFFBAC5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432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E68933-2291-4135-802D-2DF9C42F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Photo and live-camera modes share the same model threshold and visual safety gate.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BF2669-71B8-4608-84D0-9FFC76BB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864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Rejected scans now show the object score versus the required threshold for troubleshooting.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98761A-A858-47A2-BEBA-C20862C9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16043963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5003C-F51A-43E7-9B7A-970C53D8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Verified model catalog and selection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30C27-C811-4E57-AA9D-D33827B5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37D2C-6E0C-4B80-86AA-8E31A593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F2FEB-970F-462E-B6BE-BDB5258EEA2B}"/>
              </a:ext>
            </a:extLst>
          </p:cNvPr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8585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857500"/>
                <a:gridCol w="2190750"/>
                <a:gridCol w="3143250"/>
              </a:tblGrid>
              <a:tr h="60325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App status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Evidence requirement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YOLOv8-Nano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Presence safety gate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Bundled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Checksum-verified ONNX gate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MobileNetV2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Quality classifier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Selectable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72.12% held-out accuracy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ResNet50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Quality classifier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Selectable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74.34% held-out accuracy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EfficientNet-B3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Quality classifier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Selected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74.78% accuracy · 58.51% macro F1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YOLOv8n-Seg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Disease segmentation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Reviewed masks + segmentation evaluation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00B86-4B1C-4F03-B580-71E14B3E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725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94750"/>
                </a:solidFill>
                <a:latin typeface="Arial"/>
                <a:ea typeface="Arial"/>
                <a:cs typeface="Arial"/>
              </a:rPr>
              <a:t>Three checksum-verified quality classifiers are selectable. Disease segmentation remains unavailable pending reviewed masks and evaluation.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0860E-D28D-45BE-A8D7-6749B74A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15039436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542302-56B6-4328-AA32-740D39E0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Implemented application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E46E8-D3C4-47AE-8DB9-67BB638B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75ED6-1C51-494D-A4D1-AD003758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98899-7A26-4335-976B-63A49E19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Scanning and interpretation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C912F-6F04-4FBC-B7CB-2BC42155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81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678E6-D397-4AEE-89AC-5F9B43A6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Photo upload and camera capture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55C3A-7B92-46F2-BE4C-12B5BCFE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A0369-3D21-4917-B534-A72B36A5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Live camera HUD with model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2B6A4-9375-41FF-87EF-BBECDD21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0D9E8-4D0D-4917-879B-D64B8222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Model threshold and fruit-signature guard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1A9AC-3FB7-426D-A88F-C8DB9C8D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81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12134-817F-47FB-8BD2-0AD7760D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Quality grade plus image-based symptom estimate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1DC1B-C0FB-4DAE-81E9-496EC5B4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D8A68"/>
                </a:solidFill>
                <a:latin typeface="Arial"/>
                <a:ea typeface="Arial"/>
                <a:cs typeface="Arial"/>
              </a:rPr>
              <a:t>Records and delivery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E76401-22E9-4CA3-BBE1-CEB46E52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81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B8E29-8698-4B03-847D-F9F1990A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9550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Local scan history and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3E786F-FB82-4045-8830-643CB020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14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C24DC7-3ADF-46B0-894B-8C59D660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2890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Human validation and rejection feedback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684128-6F70-419C-83F9-23C6E4D9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D7434-8140-4AE8-AC3D-BAD28F65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6230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Analytics and date-bounded reports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E26514-2AA2-4299-9D2A-E9767624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81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D0E06A-6441-4BE0-B240-25C5CC2D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9570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CSV export, notifications and installable PWA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9392CC-F213-45B7-AE1E-7381D784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D99C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FFC551-75A8-49FC-A75B-B0D33E5A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72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Android debug package available · offline runtime assets bundled · no server account required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A73EF0-EB29-4AB8-B251-A9FB89B2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12696495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B19F3-E722-4EC3-A827-5EF60E75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Dataset preparation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38BE7-D5BC-404E-836A-E48CB24B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3FE2F-65AE-4FB6-B80A-952857B5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3DD79-2748-479D-B23F-D902AEDF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763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Human review and the frozen quality split are complete; disease-region masks remain pending.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E03BA-FDD6-4165-A3FD-CEA33B60565A}"/>
              </a:ext>
            </a:extLst>
          </p:cNvPr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666875"/>
                <a:gridCol w="1666875"/>
                <a:gridCol w="2000250"/>
              </a:tblGrid>
              <a:tr h="619125">
                <a:tc>
                  <a:txBody>
                    <a:bodyPr/>
                    <a:lstStyle/>
                    <a:p>
                      <a:r>
                        <a:t>Split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Grade 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Grade 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Grade C / Reject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Train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130 / 577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Validation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24 / 119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22 / 115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Unique hashes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1,553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Cross-split duplicates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Review manifest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1,553 images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Reviewed target labels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1,553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D3F4D-5AC3-4218-B561-5D4EDBDD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143250" cy="3238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DCEB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5EB26-F778-4F62-808B-621B5FC4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573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9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What the audit proves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5F14C-1AB1-48DE-BEEF-030146B1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62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5B7B0-DDA1-40B9-B94F-D281CF1A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76500"/>
            <a:ext cx="2152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Every quality row has a human-reviewed target label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1904D-7C2E-4C7C-BAE7-FF4B5460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52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4B996-C2A1-433A-8E75-2746BC30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67050"/>
            <a:ext cx="2152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No byte-exact or source-group overlap across splits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A57EC-910B-4585-B289-670C851A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4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ACE07-A357-4C26-9A9C-2475293B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57600"/>
            <a:ext cx="2152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The frozen manifest and checksums validate without 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BE3FD-9B1B-4F88-B7AF-1BE5A268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94750"/>
                </a:solidFill>
                <a:latin typeface="Arial"/>
                <a:ea typeface="Arial"/>
                <a:cs typeface="Arial"/>
              </a:rPr>
              <a:t>It does not prove Philippine field representativeness, disease diagnosis or superiority to manual grading.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0ABCD-F971-4690-8912-C0F75EA7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15439282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7050F-BB01-45B7-BCC0-70FBC72E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Software verification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153BD-CE19-4F78-A47D-72A83429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34A0A-F00B-44FC-9459-12C322F4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A3B7F-8DDB-444B-ABA0-5EC4B1AE0E2A}"/>
              </a:ext>
            </a:extLst>
          </p:cNvPr>
          <p:cNvGraphicFramePr/>
          <p:nvPr/>
        </p:nvGraphicFramePr>
        <p:xfrm>
          <a:off xmlns:a="http://schemas.openxmlformats.org/drawingml/2006/main" x="809625" y="1428750"/>
          <a:ext xmlns:a="http://schemas.openxmlformats.org/drawingml/2006/main" cx="105727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381250"/>
                <a:gridCol w="4762500"/>
              </a:tblGrid>
              <a:tr h="530679">
                <a:tc>
                  <a:txBody>
                    <a:bodyPr/>
                    <a:lstStyle/>
                    <a:p>
                      <a:r>
                        <a:t>Verification area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Current result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What it establishes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JavaScript regression suite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112 checks passing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UI workflows, storage, reporting and runtime wiring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Python research tooling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138 checks passing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Validation, preprocessing and evaluation safeguards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Bundled ONNX smoke 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Model executes through the shipped WASM backend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Android assembly and lint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Debug application builds without lint failure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GitHub verification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Repository checks repeat in automation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Held-out quality evaluation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74.78% accuracy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EfficientNet-B3 on the frozen 226-image test split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6923C-1BD9-4558-BB25-43F0D006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725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94750"/>
                </a:solidFill>
                <a:latin typeface="Arial"/>
                <a:ea typeface="Arial"/>
                <a:cs typeface="Arial"/>
              </a:rPr>
              <a:t>Software checks establish compatibility. The held-out result is internal evidence and still requires field/UAT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AD8FF-03D4-438D-8A2C-EAF9291A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3288540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1FE50-92AF-4178-8D81-7631BCC3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Held-out quality model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7BD3A-3DA1-4775-AA61-E8EA02A9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2E282-B4FE-44B5-9385-AADBE8AA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A413B-1658-43BD-B8B4-B6BD4144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763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Every candidate used the same frozen 226-image test split.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66AEF-36E4-47F5-AFE2-DF945806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5F73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7C532-A6BD-45FF-BBF1-2915A781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5591175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DCE4"/>
          </a:solidFill>
          <a:ln xmlns:a="http://schemas.openxmlformats.org/drawingml/2006/main" w="9525">
            <a:solidFill>
              <a:srgbClr val="E7DC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C0BB6-A69C-4E18-AAC1-588D427A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4095750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9C2B"/>
          </a:solidFill>
          <a:ln xmlns:a="http://schemas.openxmlformats.org/drawingml/2006/main" w="9525">
            <a:solidFill>
              <a:srgbClr val="D99C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BE0A4-EFC6-43BB-B0B4-651BAA9D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621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72.12% accuracy · 55.31% macro 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67C9A-8BA7-4DD7-BD81-B6289806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D8A68"/>
                </a:solidFill>
                <a:latin typeface="Arial"/>
                <a:ea typeface="Arial"/>
                <a:cs typeface="Arial"/>
              </a:rPr>
              <a:t>ResNet50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D3E1C-D5BA-402C-85C8-CF940B53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48000"/>
            <a:ext cx="5591175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DCE4"/>
          </a:solidFill>
          <a:ln xmlns:a="http://schemas.openxmlformats.org/drawingml/2006/main" w="9525">
            <a:solidFill>
              <a:srgbClr val="E7DC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0A426-3AE3-413E-A0AF-F64E80C4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48000"/>
            <a:ext cx="5314950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3D21D-0673-4E8C-89FF-9C201CA7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575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74.34% accuracy · 54.83% macro 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EB542-651E-4CED-BD97-E64226D3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38625"/>
            <a:ext cx="9239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0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204C"/>
                </a:solidFill>
                <a:latin typeface="Arial"/>
                <a:ea typeface="Arial"/>
                <a:cs typeface="Arial"/>
              </a:rPr>
              <a:t>EfficientNet-B3 ranked first at 74.78% accuracy and 58.51% macro F1. Its accuracy lead over ResNet50 is only 0.44 percentage points.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00205-CD99-4BC1-B436-B3E57EBA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72125"/>
            <a:ext cx="62865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7DCEB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0D8E7-7D40-4FA3-86E3-29024A0B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673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4750"/>
                </a:solidFill>
                <a:latin typeface="Arial"/>
                <a:ea typeface="Arial"/>
                <a:cs typeface="Arial"/>
              </a:rPr>
              <a:t>Grade C is weakest (27.03% F1); retain human validation.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66DB7-64C4-4F4E-AE6A-95E8BA43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10070297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CD5B2C-B7A1-4012-9807-A4634CFA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Evaluation evidence and next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F6013-9B66-433C-9F5E-5354D773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D99EE-AE7A-49A3-9200-B43C6F11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CA23D-2143-402D-A6B8-561A6945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762125" cy="247650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7DCEB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7EE8F-4E0E-4B76-966B-D4C3182C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Freeze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00775-F607-44C0-A08B-61F3442B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141922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Complete · frozen reviewed manifest and model hashes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6E7CC-5E0B-46B1-B09A-B013CB18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62125"/>
            <a:ext cx="1762125" cy="247650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4F3EC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E26D7-151D-4892-8B37-A2ADF638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1452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F1C9E-7BC7-4715-BC49-E86CE40B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14575"/>
            <a:ext cx="141922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Complete · one prediction per held-out image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C7100-9DBF-45C5-BCE3-DB591FEA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62125"/>
            <a:ext cx="1762125" cy="247650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7DCEB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12DDD0-4618-4831-8D01-50DD7E52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1452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Summarize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EFD62-E1A1-4681-AB0F-7486E817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14575"/>
            <a:ext cx="141922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Complete · metrics, confusion matrices and errors retained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2679C-65BB-4439-AA1C-96BB7184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62125"/>
            <a:ext cx="1762125" cy="247650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4F3EC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D40B4-3CE1-4418-BBAE-05EE2E67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1452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Test device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7F7913-6C71-4351-8E5C-83955954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14575"/>
            <a:ext cx="141922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Pending · latency, offline use and failure cases on phones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9CD8FA-E8C2-401B-BE92-3CE8AABC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62125"/>
            <a:ext cx="1762125" cy="247650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7DCEB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5F356-45AA-495B-85B2-35381F0A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91452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Run UAT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0BD9F5-CE7A-4259-9EF2-B985E881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14575"/>
            <a:ext cx="141922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Pending · approved tasks and anonymous participant IDs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40596-45C0-4511-88C6-BCB54D1E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8130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30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5D782-D5A2-4AC8-99C1-71F89D75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8130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30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5DFB73-2354-4D3D-B8D8-D1A8CE86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8130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30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1EE44D-4057-4732-9D72-92B7244D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8130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30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1C7C48-CD60-446F-9F98-DFE7088A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D99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D99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C2B"/>
                </a:solidFill>
                <a:latin typeface="Arial"/>
                <a:ea typeface="Arial"/>
                <a:cs typeface="Arial"/>
              </a:rPr>
              <a:t>Required retained files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898046-B468-406A-8EF3-7C7BE1CA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387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predictions.csv · model-evaluation.csv retained · device-test.csv and uat.csv pending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7E1393-9524-4B3A-B80A-0A00194F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435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94750"/>
                </a:solidFill>
                <a:latin typeface="Arial"/>
                <a:ea typeface="Arial"/>
                <a:cs typeface="Arial"/>
              </a:rPr>
              <a:t>The manuscript includes measured quality findings; final claims remain bounded until device testing, UAT and disease scope are resolved.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BF984F-FF7F-4757-8EC5-03A2F30E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6911700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9B122-570D-4511-AAA0-F4C1B254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Capstone completion scorecard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61E7D-6F31-4D1B-B2AF-6CCF0261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D9EB1-D522-4330-AC19-52642B0C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7EA21-52F3-485B-B8F8-3E144FC5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763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Weighted by deliverable readiness, with evidence work separated from software work.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56AD2-AB78-4351-839B-EEF560922FC5}"/>
              </a:ext>
            </a:extLst>
          </p:cNvPr>
          <p:cNvGraphicFramePr/>
          <p:nvPr/>
        </p:nvGraphicFramePr>
        <p:xfrm>
          <a:off xmlns:a="http://schemas.openxmlformats.org/drawingml/2006/main" x="571500" y="1333500"/>
          <a:ext xmlns:a="http://schemas.openxmlformats.org/drawingml/2006/main" cx="8667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1428750"/>
                <a:gridCol w="1428750"/>
                <a:gridCol w="2095500"/>
              </a:tblGrid>
              <a:tr h="400050">
                <a:tc>
                  <a:txBody>
                    <a:bodyPr/>
                    <a:lstStyle/>
                    <a:p>
                      <a:r>
                        <a:t>Workstream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Weight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Earned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Basis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Scope and requirements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Scope frozen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Repository and repeatable builds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CI/build checks pass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Application functionality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Core workflow tested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Model infrastructure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Quality models ready; disease pending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Data governance and preparation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3,050 reviewed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Formal evaluation and UAT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Quality tested; UAT pending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Manuscript and defense materials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Draft and deck ready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Release readiness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Unsigned; device test pending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589B2-5E5D-479E-9C4B-CB314123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0"/>
            <a:ext cx="1952625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55204C"/>
          </a:solidFill>
          <a:ln xmlns:a="http://schemas.openxmlformats.org/drawingml/2006/main" w="9525">
            <a:solidFill>
              <a:srgbClr val="5520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5FC8C-34DF-45D1-820E-94A55761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133600"/>
            <a:ext cx="1666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ED96D-8F61-4C64-8080-D265CA9D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527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>
                <a:solidFill>
                  <a:srgbClr val="F7DC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F7DCE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DCEB"/>
                </a:solidFill>
                <a:latin typeface="Arial"/>
                <a:ea typeface="Arial"/>
                <a:cs typeface="Arial"/>
              </a:rPr>
              <a:t>overall readiness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3168C-079A-4C22-B644-443FAB2D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09575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D8A68"/>
                </a:solidFill>
                <a:latin typeface="Arial"/>
                <a:ea typeface="Arial"/>
                <a:cs typeface="Arial"/>
              </a:rPr>
              <a:t>88 / 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42F4A-F126-49A8-8FEF-CF17A091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62500"/>
            <a:ext cx="2143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4750"/>
                </a:solidFill>
                <a:latin typeface="Arial"/>
                <a:ea typeface="Arial"/>
                <a:cs typeface="Arial"/>
              </a:rPr>
              <a:t>Readiness score, not model accuracy. Device/UAT evidence remains pending.</a:t>
            </a:r>
          </a:p>
        </p:txBody>
      </p:sp>
    </p:spTree>
    <p:extLst>
      <p:ext uri="{BB962C8B-B14F-4D97-AF65-F5344CB8AC3E}">
        <p14:creationId xmlns:p14="http://schemas.microsoft.com/office/powerpoint/2010/main" val="4019315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C1DC4A-E7B4-4E9B-B7F0-76A8543F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The remaining 12%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1879D-0217-43B5-9128-F9DCBD88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6B337-854B-4021-B2FF-E6D452C6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51CF0-C1B7-469D-8430-BFA4C794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Team or adviser input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83F6A-3068-4D1B-ADE2-C7A1EC79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33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447B6-BF4B-47EA-BC85-6D7229C6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47875"/>
            <a:ext cx="48672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Resolve disease segmentation: reviewed masks or adviser-approved scope waiver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35A14-6BAB-44BD-B31E-2F1FCDA7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2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3CAC9-6CDA-44B8-8456-8B9DA00F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638425"/>
            <a:ext cx="48672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Approve the retained quality results and final study protocol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C7283-2BE3-491B-B13E-3D098944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DD86C-B1D4-466E-97D7-9136F5A3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28975"/>
            <a:ext cx="48672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Provide Android release signing key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E9F41-DA24-406B-AB4E-3B578068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05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D5427-E859-45CA-B224-18CA3156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19525"/>
            <a:ext cx="48672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Run physical-device tests and approved UAT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34E09-A1A7-466C-BEE8-9463579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4287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D8A68"/>
                </a:solidFill>
                <a:latin typeface="Arial"/>
                <a:ea typeface="Arial"/>
                <a:cs typeface="Arial"/>
              </a:rPr>
              <a:t>Then 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499A5-E996-4F8A-ACF0-2075A4CE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33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4ED70-0643-4103-A408-45E72EC8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047875"/>
            <a:ext cx="453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Train/evaluate disease segmentation only if it remains in scope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4C25C-8FF7-4949-8F75-35544D55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72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F5BDF-106D-4C4D-ACE1-612C3C4B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38425"/>
            <a:ext cx="453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Validate the APK across the physical-device matrix and approved UAT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F52938-055E-45CC-AD57-F69F2669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F9CB4-AA20-4011-BBB4-B383A8F8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228975"/>
            <a:ext cx="453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Add approved device/UAT evidence and final figures to the manuscript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51D9D6-914E-44FF-8E04-B77C6C91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05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3B83F1-6BC5-4460-B16B-7468145B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819525"/>
            <a:ext cx="453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Build the signed release and rehearse the defense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1712CD-6629-4A09-B8A6-4C53CF0F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00625"/>
            <a:ext cx="9239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D99C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8ACCE1-360A-4889-84CD-FD54B0B7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7207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Critical path: disease scope  ›  device testing  ›  UAT  ›  approved results  ›  signed release  ›  defense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740C77-2F32-48B7-84D8-5EDC6A73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9971320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5520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9A249F-2CE1-4D45-8CDF-0E87C407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Defense demonstration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AB4B0-65D8-4DA6-ADD6-C48D5E98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3960A-6760-4708-8F78-40FAE984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400" b="1">
                <a:solidFill>
                  <a:srgbClr val="D99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D99C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9C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82B43-AEF7-4303-BE09-F90A7D9F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0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DA81A-00DE-4251-BA52-BEB37253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F4EA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4EAF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EAF1"/>
                </a:solidFill>
                <a:latin typeface="Arial"/>
                <a:ea typeface="Arial"/>
                <a:cs typeface="Arial"/>
              </a:rPr>
              <a:t>Select EfficientNet-B3 or compare the three verified quality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954E2-B726-4FFE-A8CA-11947263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400" b="1">
                <a:solidFill>
                  <a:srgbClr val="D99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D99C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9C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D364C-DFB5-48BA-9120-EE135247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62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C0052-391C-4945-BF62-E2CC8A9E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F4EA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4EAF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EAF1"/>
                </a:solidFill>
                <a:latin typeface="Arial"/>
                <a:ea typeface="Arial"/>
                <a:cs typeface="Arial"/>
              </a:rPr>
              <a:t>Upload a clear dragon-fruit image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30B7D-5F3C-4333-B728-EDF4B46E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400" b="1">
                <a:solidFill>
                  <a:srgbClr val="D99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D99C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9C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12C31-4589-452F-8E56-D07AD1EE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14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Interpret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8E9BA-132A-4394-9DF1-358ECE64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F4EA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4EAF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EAF1"/>
                </a:solidFill>
                <a:latin typeface="Arial"/>
                <a:ea typeface="Arial"/>
                <a:cs typeface="Arial"/>
              </a:rPr>
              <a:t>Explain the grade, confidence, human-validation rule and limitations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3B5C4-F7B3-4B7F-A398-C091CF1D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400" b="1">
                <a:solidFill>
                  <a:srgbClr val="D99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D99C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9C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73824-5355-407E-90E1-59942AD4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CC12B-C1FE-46F3-8B79-F547AA72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672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F4EA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4EAF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EAF1"/>
                </a:solidFill>
                <a:latin typeface="Arial"/>
                <a:ea typeface="Arial"/>
                <a:cs typeface="Arial"/>
              </a:rPr>
              <a:t>Open history, add review feedback and export CSV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957A5-1190-49A1-85EC-4D3B2E95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92CE5-F03A-462F-A826-B2ED7C0B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9817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75" b="0">
                <a:solidFill>
                  <a:srgbClr val="F7DC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F7DC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DCEB"/>
                </a:solidFill>
                <a:latin typeface="Arial"/>
                <a:ea typeface="Arial"/>
                <a:cs typeface="Arial"/>
              </a:rPr>
              <a:t>Public preview: irlcrshrgva-ui.github.io/PitayaGrade/</a:t>
            </a:r>
          </a:p>
        </p:txBody>
      </p:sp>
    </p:spTree>
    <p:extLst>
      <p:ext uri="{BB962C8B-B14F-4D97-AF65-F5344CB8AC3E}">
        <p14:creationId xmlns:p14="http://schemas.microsoft.com/office/powerpoint/2010/main" val="12160616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2026-10-09T13:43:42.1600000Z</dcterms:created>
  <dcterms:modified xsi:type="dcterms:W3CDTF">2026-10-09T13:43:42.1600000Z</dcterms:modified>
</coreProperties>
</file>